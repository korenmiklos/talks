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aee26f4bfa4e0e" /><Relationship Type="http://schemas.openxmlformats.org/officeDocument/2006/relationships/extended-properties" Target="/docProps/app.xml" Id="R7b639bf3c8254d86" /><Relationship Type="http://schemas.openxmlformats.org/officeDocument/2006/relationships/officeDocument" Target="/ppt/presentation.xml" Id="R6eef77d79cdf43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6ef7dfa256489d"/>
  </p:sldMasterIdLst>
  <p:notesMasterIdLst>
    <p:notesMasterId xmlns:r="http://schemas.openxmlformats.org/officeDocument/2006/relationships" r:id="R99c9221ea2f9479e"/>
  </p:notesMasterIdLst>
  <p:sldIdLst>
    <p:sldId xmlns:r="http://schemas.openxmlformats.org/officeDocument/2006/relationships" id="256" r:id="R9eec4de5c6434d05"/>
    <p:sldId xmlns:r="http://schemas.openxmlformats.org/officeDocument/2006/relationships" id="257" r:id="R5277f0d95d734cda"/>
    <p:sldId xmlns:r="http://schemas.openxmlformats.org/officeDocument/2006/relationships" id="258" r:id="Rb0d4d0ede6e74240"/>
    <p:sldId xmlns:r="http://schemas.openxmlformats.org/officeDocument/2006/relationships" id="259" r:id="Rb432033cff314d93"/>
    <p:sldId xmlns:r="http://schemas.openxmlformats.org/officeDocument/2006/relationships" id="260" r:id="R9f8131033cca4e03"/>
    <p:sldId xmlns:r="http://schemas.openxmlformats.org/officeDocument/2006/relationships" id="261" r:id="Rb5b910c2acb04ad3"/>
    <p:sldId xmlns:r="http://schemas.openxmlformats.org/officeDocument/2006/relationships" id="262" r:id="R3f547f8022ec41bf"/>
    <p:sldId xmlns:r="http://schemas.openxmlformats.org/officeDocument/2006/relationships" id="263" r:id="R32f283599e484188"/>
    <p:sldId xmlns:r="http://schemas.openxmlformats.org/officeDocument/2006/relationships" id="264" r:id="R93c2828c69874e38"/>
    <p:sldId xmlns:r="http://schemas.openxmlformats.org/officeDocument/2006/relationships" id="265" r:id="R023fb24460b64c63"/>
    <p:sldId xmlns:r="http://schemas.openxmlformats.org/officeDocument/2006/relationships" id="266" r:id="R959ef8e3aa704f44"/>
    <p:sldId xmlns:r="http://schemas.openxmlformats.org/officeDocument/2006/relationships" id="267" r:id="Rf1e26a8db06e43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d79c87e6924914" /><Relationship Type="http://schemas.openxmlformats.org/officeDocument/2006/relationships/slideMaster" Target="/ppt/slideMasters/slideMaster1.xml" Id="R386ef7dfa256489d" /><Relationship Type="http://schemas.openxmlformats.org/officeDocument/2006/relationships/notesMaster" Target="/ppt/notesMasters/notesMaster1.xml" Id="R99c9221ea2f9479e" /><Relationship Type="http://schemas.openxmlformats.org/officeDocument/2006/relationships/presProps" Target="/ppt/presProps.xml" Id="Re13e1a1664fc480f" /><Relationship Type="http://schemas.openxmlformats.org/officeDocument/2006/relationships/tableStyles" Target="/ppt/tableStyles.xml" Id="Rdd4484c72d914566" /><Relationship Type="http://schemas.openxmlformats.org/officeDocument/2006/relationships/slide" Target="/ppt/slides/slide1.xml" Id="R9eec4de5c6434d05" /><Relationship Type="http://schemas.openxmlformats.org/officeDocument/2006/relationships/slide" Target="/ppt/slides/slide2.xml" Id="R5277f0d95d734cda" /><Relationship Type="http://schemas.openxmlformats.org/officeDocument/2006/relationships/slide" Target="/ppt/slides/slide3.xml" Id="Rb0d4d0ede6e74240" /><Relationship Type="http://schemas.openxmlformats.org/officeDocument/2006/relationships/slide" Target="/ppt/slides/slide4.xml" Id="Rb432033cff314d93" /><Relationship Type="http://schemas.openxmlformats.org/officeDocument/2006/relationships/slide" Target="/ppt/slides/slide5.xml" Id="R9f8131033cca4e03" /><Relationship Type="http://schemas.openxmlformats.org/officeDocument/2006/relationships/slide" Target="/ppt/slides/slide6.xml" Id="Rb5b910c2acb04ad3" /><Relationship Type="http://schemas.openxmlformats.org/officeDocument/2006/relationships/slide" Target="/ppt/slides/slide7.xml" Id="R3f547f8022ec41bf" /><Relationship Type="http://schemas.openxmlformats.org/officeDocument/2006/relationships/slide" Target="/ppt/slides/slide8.xml" Id="R32f283599e484188" /><Relationship Type="http://schemas.openxmlformats.org/officeDocument/2006/relationships/slide" Target="/ppt/slides/slide9.xml" Id="R93c2828c69874e38" /><Relationship Type="http://schemas.openxmlformats.org/officeDocument/2006/relationships/slide" Target="/ppt/slides/slide10.xml" Id="R023fb24460b64c63" /><Relationship Type="http://schemas.openxmlformats.org/officeDocument/2006/relationships/slide" Target="/ppt/slides/slide11.xml" Id="R959ef8e3aa704f44" /><Relationship Type="http://schemas.openxmlformats.org/officeDocument/2006/relationships/slide" Target="/ppt/slides/slide12.xml" Id="Rf1e26a8db06e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01aa55a52f43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271591df5443bf" /><Relationship Type="http://schemas.openxmlformats.org/officeDocument/2006/relationships/notesMaster" Target="/ppt/notesMasters/notesMaster1.xml" Id="R1fdcde823e9341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1702535b034572" /><Relationship Type="http://schemas.openxmlformats.org/officeDocument/2006/relationships/notesMaster" Target="/ppt/notesMasters/notesMaster1.xml" Id="Re218c3554f3f44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bf21d3845f40ab" /><Relationship Type="http://schemas.openxmlformats.org/officeDocument/2006/relationships/notesMaster" Target="/ppt/notesMasters/notesMaster1.xml" Id="R5031d74f102e4c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6fb220246a4903" /><Relationship Type="http://schemas.openxmlformats.org/officeDocument/2006/relationships/notesMaster" Target="/ppt/notesMasters/notesMaster1.xml" Id="Rb62a1255adf841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b2558a41a04df5" /><Relationship Type="http://schemas.openxmlformats.org/officeDocument/2006/relationships/notesMaster" Target="/ppt/notesMasters/notesMaster1.xml" Id="R50a3046160624f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8562d5c9ec4949" /><Relationship Type="http://schemas.openxmlformats.org/officeDocument/2006/relationships/notesMaster" Target="/ppt/notesMasters/notesMaster1.xml" Id="Rb19a9b47f3844d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30f9f73272b47e6" /><Relationship Type="http://schemas.openxmlformats.org/officeDocument/2006/relationships/notesMaster" Target="/ppt/notesMasters/notesMaster1.xml" Id="R870a03a28193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a34eb92f1841b7" /><Relationship Type="http://schemas.openxmlformats.org/officeDocument/2006/relationships/notesMaster" Target="/ppt/notesMasters/notesMaster1.xml" Id="R0d86f9ff958548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e3b609e4404a16" /><Relationship Type="http://schemas.openxmlformats.org/officeDocument/2006/relationships/notesMaster" Target="/ppt/notesMasters/notesMaster1.xml" Id="R3f37370b888340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7ee3d9685e4718" /><Relationship Type="http://schemas.openxmlformats.org/officeDocument/2006/relationships/notesMaster" Target="/ppt/notesMasters/notesMaster1.xml" Id="Ra8b0bd01173643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9cd36b03cc74033" /><Relationship Type="http://schemas.openxmlformats.org/officeDocument/2006/relationships/notesMaster" Target="/ppt/notesMasters/notesMaster1.xml" Id="R443c18229d144c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deceec95154613" /><Relationship Type="http://schemas.openxmlformats.org/officeDocument/2006/relationships/notesMaster" Target="/ppt/notesMasters/notesMaster1.xml" Id="Rfed2bdb904e647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Deck prepared from public model cards and product documentation accessed 23 September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 is a minimal terminal coding harness that can inspect files, run commands and edit content. Source: https://pi.dev/ and https://pi.dev/docs/latest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Presidio documentation: https://data-privacy-stack.github.io/presidio/ . scrubadub documentation: https://scrubadub.readthedocs.io/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Rampart and Desert Ant both document hybrid designs combining a neural token classifier with deterministic recognition. Sources: https://huggingface.co/nationaldesignstudio/rampart and https://huggingface.co/desert-ant-labs/redact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distinguishes architectural trust boundaries. Microsoft Presidio can run locally and is therefore shown with SDKs on slide 3, not as a remote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Rampart https://huggingface.co/nationaldesignstudio/rampart ; Desert Ant https://huggingface.co/desert-ant-labs/redact ; GLiNER2-PII https://huggingface.co/fastino/gliner2-privacy-filter-PII-multi ; LFM2.5 https://huggingface.co/LiquidAI/LFM2.5-Encoder-350M-PII-Detector ; PII-Tracer https://huggingface.co/perplexity-ai/pplx-pii-masking ; Nemotron v2 https://huggingface.co/OpenMed/privacy-filter-nemotron-v2 . Parameter total/active values follow the respective model cards. Values should be rechecked before publication because model cards change.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proposed for the demonstration. OpenRouter is an OpenAI-compatible gateway. The local mapping store must remain outside remote telemetry.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guidance: use conversation-scoped, high-entropy typed tokens; rehydrate only exact known tokens; keep mapping data out of remote traces and error reporting.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OpenRouter Broadcast supports Langfuse and other observability destinations. Source: https://openrouter.ai/docs/guides/features/broadcast . Use synthetic PII in the public demo. Real raw values must not be exported to hosted observability.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 is selected because it is a minimal terminal harness and supports adaptation through TypeScript extensions. Sources: https://pi.dev/ and https://pi.dev/docs/latest . OpenRouter Broadcast: https://openrouter.ai/docs/guides/features/broadcast . Langfuse integration: https://openrouter.ai/docs/guides/features/broadcast/langfuse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dimensions are observable from model cards, packaged artifacts and local execution. Accuracy remains dataset- and policy-dependent.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summary. Product choices remain provisional pending direct installation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fda8b742584e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e17eb6e474c72" /><Relationship Type="http://schemas.openxmlformats.org/officeDocument/2006/relationships/slideLayout" Target="/ppt/slideLayouts/slideLayout1.xml" Id="R2162017372874a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62017372874a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728c383a5415a" /><Relationship Type="http://schemas.openxmlformats.org/officeDocument/2006/relationships/notesSlide" Target="/ppt/notesSlides/notesSlide1.xml" Id="Rc915c5f2e4dc43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16374a8e64637" /><Relationship Type="http://schemas.openxmlformats.org/officeDocument/2006/relationships/notesSlide" Target="/ppt/notesSlides/notesSlide2.xml" Id="Rceac532c73554c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812a2e8d6492e" /><Relationship Type="http://schemas.openxmlformats.org/officeDocument/2006/relationships/notesSlide" Target="/ppt/notesSlides/notesSlide3.xml" Id="Re6f7f29ccf5e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272b70e08462e" /><Relationship Type="http://schemas.openxmlformats.org/officeDocument/2006/relationships/notesSlide" Target="/ppt/notesSlides/notesSlide4.xml" Id="Raeebe79e1b894f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df24f960940eb" /><Relationship Type="http://schemas.openxmlformats.org/officeDocument/2006/relationships/notesSlide" Target="/ppt/notesSlides/notesSlide5.xml" Id="R7142efe3255542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102890d984f7a" /><Relationship Type="http://schemas.openxmlformats.org/officeDocument/2006/relationships/notesSlide" Target="/ppt/notesSlides/notesSlide6.xml" Id="Rba323169d2a54e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2a7820f364379" /><Relationship Type="http://schemas.openxmlformats.org/officeDocument/2006/relationships/notesSlide" Target="/ppt/notesSlides/notesSlide7.xml" Id="Rfdc6c6295e2742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a831438947c8" /><Relationship Type="http://schemas.openxmlformats.org/officeDocument/2006/relationships/notesSlide" Target="/ppt/notesSlides/notesSlide8.xml" Id="Rb964b99512994a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cf6614a1e4125" /><Relationship Type="http://schemas.openxmlformats.org/officeDocument/2006/relationships/notesSlide" Target="/ppt/notesSlides/notesSlide9.xml" Id="R99577f09f3ac4f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8b739774f441d" /><Relationship Type="http://schemas.openxmlformats.org/officeDocument/2006/relationships/notesSlide" Target="/ppt/notesSlides/notesSlide10.xml" Id="Rd4ed7dfa51a94a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b56c8bce34f61" /><Relationship Type="http://schemas.openxmlformats.org/officeDocument/2006/relationships/notesSlide" Target="/ppt/notesSlides/notesSlide11.xml" Id="R569e33107fc34f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f32aa0c264ec0" /><Relationship Type="http://schemas.openxmlformats.org/officeDocument/2006/relationships/notesSlide" Target="/ppt/notesSlides/notesSlide12.xml" Id="R4afcddb9579442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564272-45E9-4006-8B48-B2ECF487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F23D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B8F23D"/>
                </a:solidFill>
                <a:latin typeface="DejaVu Sans"/>
                <a:ea typeface="DejaVu Sans"/>
                <a:cs typeface="DejaVu Sans"/>
              </a:rPr>
              <a:t>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9B93A-22D6-42B0-B152-726EB867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524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Privacy before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the cloud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6BBFB-09F2-4BB6-B054-107048CC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rPr>
              <a:t>A local proxy for coding agents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E6752-C189-4698-923E-C108718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143000"/>
            <a:ext cx="2286000" cy="39052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CF7766-3C10-476C-97DB-3197B3A6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71625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RAW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FA5F3-FBA0-46BB-AF9C-ED9A83C6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47875"/>
            <a:ext cx="1790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Anna Kovacs</a:t>
            </a:r>
          </a:p>
          <a:p xmlns:a="http://schemas.openxmlformats.org/drawingml/2006/main">
            <a:pPr algn="l">
              <a:def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anna@example.hu</a:t>
            </a:r>
          </a:p>
          <a:p xmlns:a="http://schemas.openxmlformats.org/drawingml/2006/main">
            <a:pPr algn="l">
              <a:def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DB_PASSWORD=***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36F74-9FAB-4B49-A388-BE443F11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81375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D2B9-AF60-44B4-BE6E-05428524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30AEA-9E27-433F-A923-5F8A63EE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91000"/>
            <a:ext cx="17907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&lt;PERSON:7F2A&gt;</a:t>
            </a:r>
          </a:p>
          <a:p xmlns:a="http://schemas.openxmlformats.org/drawingml/2006/main">
            <a:pPr algn="l">
              <a:def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&lt;EMAIL:9B11&gt;</a:t>
            </a:r>
          </a:p>
          <a:p xmlns:a="http://schemas.openxmlformats.org/drawingml/2006/main">
            <a:pPr algn="l">
              <a:def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&lt;SECRET:C821&gt;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9A57A-A16F-4B09-9FA2-6D926AF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6B1B8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6B1B8"/>
                </a:solidFill>
                <a:latin typeface="DejaVu Sans"/>
                <a:ea typeface="DejaVu Sans"/>
                <a:cs typeface="DejaVu Sans"/>
              </a:rPr>
              <a:t>Miklos Koren | 2026</a:t>
            </a:r>
          </a:p>
        </p:txBody>
      </p:sp>
    </p:spTree>
    <p:extLst>
      <p:ext uri="{BB962C8B-B14F-4D97-AF65-F5344CB8AC3E}">
        <p14:creationId xmlns:p14="http://schemas.microsoft.com/office/powerpoint/2010/main" val="1678082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383C6D-B2A5-4162-8848-735F8601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THE EXPOSURE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02B8-EDF0-443D-A463-E2E6B9D5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A coding agent sends more than the prompt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DA403C-5241-4DC6-8CD7-37342BB5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66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C93C1-93BB-4295-830A-713854B7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668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7749FA-CFCD-4413-951A-D8151D4C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Instructions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D870A-D4F0-4BF9-80B8-AB0385F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3357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0F6A8-F9B2-4BB0-9D78-6B76D7217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764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74E4A-D33B-413D-875E-DCF5694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266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E16689-9328-4A45-890F-4E888C3A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E9C44-2DD3-49A6-BBA5-4D78B04B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Source and configuration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3E0ADE-961C-43C5-A0AA-F50B51D4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2322B-C7E6-4BE0-89E2-25154A0F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765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0285B-5ED2-4B28-AC04-56CBA19B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266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490D8-7D08-494A-815B-5CB49FF8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B2220-0F77-405B-B7E7-1D160A825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9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Terminal and MCP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2E55F-BF1C-4A39-83A4-A0EAE69A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33825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6A85CD-F634-46B7-993E-9F55B225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8766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184B96-F522-4BF0-BA49-E9FBD6DA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667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26377-335C-4DE6-A9E4-C63A509A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01C6A-4035-46CA-B28F-222916E7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42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Diffs and conversation history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DF8C1-A370-4F74-AE75-B49D6730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3395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C3FAB-6383-4F5B-9B3B-693B875A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7680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B9FEC-5DEB-4E91-B74D-D9D50520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266950"/>
            <a:ext cx="2190750" cy="2238375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44863A-F7CF-484F-A6D1-57B5FC20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81300"/>
            <a:ext cx="1714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CODING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3386D1-D784-4ADF-B0BA-CBD978E8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81375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88A15B-DDA9-401F-A0CB-14169F2EB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242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BA90BF-560D-46F0-83D8-A2715CD1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571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15D5F1-5E7C-4F37-948C-B130B732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09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109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Cloud model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1BE44C-8434-47D4-9DF8-4051045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1962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553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Every model request</a:t>
            </a:r>
          </a:p>
          <a:p xmlns:a="http://schemas.openxmlformats.org/drawingml/2006/main">
            <a:pPr algn="ctr">
              <a:defRPr sz="1350" b="0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can contain local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03455-6CA4-4F67-A5A8-A2C2760D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095875"/>
            <a:ext cx="6334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62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The privacy boundary must cover every outbound model call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136F8-E86D-495D-B7A7-7C272FEA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5911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A49CB-B8DF-4E7E-85A7-A722194A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LANDSCAPE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3A0F3-6BF6-4D38-8EB6-9F5DBB5F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Three ways to remove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DB735-1C0A-42CE-BFCD-A3C016BA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295650" cy="40957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C72DF-B2E6-4E85-967F-9FEB30F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A18DA2-CBDB-49BD-B155-67595FD3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764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3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Rules and SDKs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B950E-CA2E-484E-98F0-C24D98D3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33625"/>
            <a:ext cx="2838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AEB734-FB15-40F2-8752-628A02A0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276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Regex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Checksums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Presidio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scrubadub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72E3A-B17E-4463-ACCE-E7A874FA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29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Fast and auditable</a:t>
            </a:r>
          </a:p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Weak on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756C0-FC88-4FA0-8D64-DA31C473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476375"/>
            <a:ext cx="3295650" cy="40957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DCE5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14E3A-10DE-4B46-9113-39F112C7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D24CD-20AF-435E-890A-F9A5B4CD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16764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81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Remote services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07EF7A-155D-4F2A-8FB9-9BDA50CF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33625"/>
            <a:ext cx="2838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40046-14AC-4017-A87E-03B70EE2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00325"/>
            <a:ext cx="276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Cloud DLP APIs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Hosted redaction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Enterprise gateways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C634C-E765-4484-9B48-D0EAF358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629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Broad coverage</a:t>
            </a:r>
          </a:p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Data leaves the device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228CF-3342-4383-BF87-4D9A18EC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76375"/>
            <a:ext cx="3295650" cy="40957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8A828B-8B52-4657-9913-4E50C0F3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676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1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D68959-F2C2-4405-81E0-E831CF28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76400"/>
            <a:ext cx="2238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Local models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90EE3-06DC-40A5-8347-EF2B89D5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33625"/>
            <a:ext cx="2838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9CD37-DEEC-4698-B243-ADB1D75F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00325"/>
            <a:ext cx="2762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Rampart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Desert Ant Redact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LFM2.5</a:t>
            </a:r>
          </a:p>
          <a:p xmlns:a="http://schemas.openxmlformats.org/drawingml/2006/main">
            <a:pPr algn="l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GLiNER2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D6BF4C-78E8-48F0-B940-FCB8C5EA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291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Context stays local</a:t>
            </a:r>
          </a:p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Fits inside a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4EECF-930D-4307-A791-EA881AB0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28793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63648-1EDE-4D7C-B180-949A7EB5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OLD SCHOOL METHODS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FADFCD-2F36-47CB-8CDF-9AEFC0BB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Rules remain part of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C43E1-40B1-4BA4-B49A-AB4C8CED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572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2034D5-87E8-43B4-9B85-326A967C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Structured identifiers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2ED9B1-EC5E-4EE9-BAA8-02FE987A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3762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Email addresses</a:t>
            </a:r>
          </a:p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Credit cards with Luhn checks</a:t>
            </a:r>
          </a:p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IP addresses</a:t>
            </a:r>
          </a:p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National identifiers</a:t>
            </a:r>
          </a:p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Known secrets and API-key formats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C3578-3210-45BB-98CE-5B94F921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67250"/>
            <a:ext cx="3714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FF7C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962AD-B2BC-496B-9F49-1A87E439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434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Use deterministic recognizers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80968-B8A6-4B4D-966E-9D69BFDB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524000"/>
            <a:ext cx="5810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D1F84-F26C-4799-BC2B-081FA38B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Contextual identifiers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5BF59-E857-406A-8003-9A6203A2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4905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Is 'Kovacs' a person, a filename or a company?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Is a date a birthday or a release date?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Does a repository path identify an employee?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3672C5-0632-433D-AF5F-97970EA0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4953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E0A0F0-29EA-4932-A711-6103D60E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4572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A language model adds context.</a:t>
            </a:r>
          </a:p>
          <a:p xmlns:a="http://schemas.openxmlformats.org/drawingml/2006/main">
            <a:pPr algn="ctr">
              <a:defRPr sz="172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Rules provide the recall floor.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5EF711-3894-4B95-B377-A940A16E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384488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A5889-2632-4EC6-85F4-23FE8F9A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SEPARATE SERVICES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8D567-2684-4DBB-8DA7-64D66D2A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26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A redaction service changes the recipient, not the trust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A42B22-76A7-41E4-BE73-2F5BD929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0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rPr>
              <a:t>CLIENT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3EB8D-E5B0-4282-A665-1FAD303C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00250"/>
            <a:ext cx="1714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8A71AE-4E73-41F0-8D9B-D58364E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133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Raw 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2315E-5533-4D9F-9697-1ED69B05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24125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3836D6-0C4B-44A3-982A-447CA424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466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F91217-C7F6-4A21-AD5C-319CC547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047875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PII crosses network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E8AB0-EF55-4201-BD27-E1C9D6AA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rPr>
              <a:t>REDACTION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A52B9-0366-47FD-86EE-F530F26B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00250"/>
            <a:ext cx="2476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EB7A9-B8BF-4C2D-9F2C-83407DBD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594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Detect and mask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4E34A-A002-4EA1-8370-F8B7D26B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24125"/>
            <a:ext cx="1762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07307-FE03-47DD-9B00-F5DA45C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466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F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0E269-7B4B-494C-8CBF-B70FE9DC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00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60707A"/>
                </a:solidFill>
                <a:latin typeface="DejaVu Sans"/>
                <a:ea typeface="DejaVu Sans"/>
                <a:cs typeface="DejaVu Sans"/>
              </a:rPr>
              <a:t>MODEL PROVIDER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00958-9237-4E2A-820D-DE13A495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00250"/>
            <a:ext cx="2381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5F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D4313-3413-4BB3-A2EF-F166A1AB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669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1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Redacted 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8A2DD4-0F15-407C-AED6-BD10D072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047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E2660-95FE-4C47-B121-C272B942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481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Useful when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DA3AAE-C327-4CCA-8E9B-500A2E25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Central policy, document processing, image OCR, regulated audit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CBB50-A76A-4355-8369-D851368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Insufficient when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CC649-2BE2-4193-8FBD-76D5B53C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4619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The requirement says that no personal information may leave the client machine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64971-D92C-4F19-9B64-D28919B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661196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F8E34B-457F-4D46-8268-414FE563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COMPARABLE CHARACTERISTICS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F5B90-400C-47E1-8A97-16473ED5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Compare engineering facts, not advertised accuracy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992F4B-2AFA-4E7D-81E2-450DF144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7AC3BE-5119-4D61-852D-C5BEE0A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466850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711FC0-4BFD-4344-9292-0B3F0B9C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09700"/>
            <a:ext cx="952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93962B-287E-423E-B1F2-7112C593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466850"/>
            <a:ext cx="80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Params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4078A-1E85-4D70-9FB0-02987D9D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09700"/>
            <a:ext cx="1047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D6F70-7163-4D48-853F-56967A18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4668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Artifact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D9D5C9-4AD5-43E6-A87C-633952CF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409700"/>
            <a:ext cx="1238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F5E9B1-219C-4ACD-A0E0-8637EDFF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466850"/>
            <a:ext cx="1085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Languages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61DF35-755E-4DF0-AFD3-AEA723B1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09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8BAE1-95B6-4236-AF09-49468857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466850"/>
            <a:ext cx="2038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Runtime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AD4AFC-D241-4768-94FD-4C050C17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09700"/>
            <a:ext cx="2476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8F6684-CA3E-4A9D-8CD1-A3509739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4668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Replacement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088AF-8743-4DE2-9D92-5853E31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478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7DCB5-87A2-478B-85CE-FAD3FC25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9240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Rampart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B1FC77-4578-4FA0-A620-0FC21B4B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478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39ACCF-0ABB-465E-8EA2-C1E9D685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92405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18.5M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B4D65-9C51-419D-B5CF-242FADEC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478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E892C3-7B7D-4929-8835-123B78F0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2405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14.7 MB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3A1019-3EE7-41EE-B921-0CA28A29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478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32DD8-B1A8-48CA-8FE1-9B310E9E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9240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055609-C34D-4675-B239-D28EB3F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847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5EC83-F0DE-4680-AC3A-216DEFC2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1924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Browser, Node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5EEF14-3DDB-41AB-B1A7-21D496E4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847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58265D-2FE6-441B-BE10-20D332CB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240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Stable typed tokens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F6BC17-9CE8-4E96-9213-A49E1F92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496B29-D872-4CD7-9C45-9F96DC57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527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Desert Ant Redact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0C5EEE-FE39-46E5-9AC4-37C0B7C6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05FAEC-C3D0-44B3-BC3A-6DB68DF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5270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23M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E4026C-5FB7-4D45-8C7B-22BF03C0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7650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28BB28-C7C0-4E86-BD3E-A60D6C4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5270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11.6-24.5 MB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A8EE6E-89E2-45A8-978F-F7FE19173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7650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E38107-7418-477F-97DD-96A5B2FA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5527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A9A855-F34A-4C1D-82A2-05E958BF0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4DC9A7-5544-4682-ADE8-AC930A85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Browser, Node, native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10CF07-75C1-48F7-854A-1F72412E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765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4CFFBD-AFAC-429F-9D66-D3295D02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5527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Typed labels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88EC56-E619-4B46-BBBA-81FEF21F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5A5E57B-E71C-429C-BD81-03134DF8D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813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GLiNER2-PII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80DE9E-24D6-4F72-AE7E-64896897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1051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AAE226-83F1-4660-963A-508B4F4D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8135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205M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6D7F164-DD7E-4E39-A7DC-E2087541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051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F8A98E-7765-47C6-8A85-75429C25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8135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not stated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D372A5-CC9D-4FCE-9242-ECD54427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28414B-C872-4C71-9E7F-4A4A7B21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1813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759A92-1043-4459-8EE6-FA781E3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1051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C90081D-221A-4847-AC0D-47901A1F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813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Python, CPU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788AFCA-8BA1-4E52-9AD8-0D70893C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051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876CB1B-CB46-4C09-81AF-415624CD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813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Spans or masking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D953B4-0853-4927-ADBB-2B4DABB5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D8F48F-9223-4CF4-BD5F-86962C25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100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LFM2.5 PII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989D324-75AD-42B1-BE11-CC2C0522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3380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D0260D-D9C7-4DCA-BC8C-D62FD4F6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81000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350M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6B0363-3B4E-462E-8EF1-91E9B6C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3380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CEA028C-0159-4AFD-BDF3-89B82D9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1000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model-dependent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73B27B-4583-46AD-954A-BD3BC949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3380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EE423AE-8D7C-491A-9270-6CD510D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8100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D08C0C-B149-4DEA-B4C7-E50C3195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338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B937C0-E778-4127-9BD3-5FED43A3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8100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Transformers, CPU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1BF4A1A-89ED-4A93-B556-CA7F5EF0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338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DB8F75-8DA9-48A4-B68C-DC099691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8100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Typed spans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7E5AAF-390B-4D12-A2CA-FD12AB3D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6245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8AD786D-3ED8-43E4-9B5C-BDF3FA50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43865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PII-Tracer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1B94FB-8446-4C13-B23F-20F529EE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3624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E63EBB-39CB-455E-AEC7-C4CCEF91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3865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~600M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7331F03-EFC2-4160-8C5B-D79F5FA3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6245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2F5C7BA-3AFA-4C9C-8F1F-36A1E89C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3865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variant-dependent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28A309-6BEA-4D58-AE15-8FDB2A3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36245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6585A1A-8CC5-4DA9-B54E-3993CEC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3865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not stated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DE068DC-5BD8-4FFD-9BE7-702F8ED9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3624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DC3BADD-8CFB-4027-A3FF-7A5C5823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386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GGUF, MLX, vLLM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FEC8ED2-8E3F-4BF9-9A0D-193ECBF5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3624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EFB6D7E-D4B6-4900-9E8E-155EE5CE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43865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Typed masks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24AFADC-4C94-4290-AE86-1307E423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91100"/>
            <a:ext cx="2571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565C297-D657-4B40-8D12-929A91D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67300"/>
            <a:ext cx="2419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Nemotron v2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4E33D7-E69F-4A29-984E-777B10D7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99110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88B9F0F-6600-42CD-9C77-6AFB9918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067300"/>
            <a:ext cx="800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932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1.4B / 50M active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DF1ED31-F0F2-452E-B3E6-63D28B2F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91100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DC5D602-9666-456A-BB19-E628404E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67300"/>
            <a:ext cx="895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variant-dependent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44478F2-3E81-4C5A-AAF4-0C5C6827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991100"/>
            <a:ext cx="1238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671C73A-9200-47EB-B706-63860E6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067300"/>
            <a:ext cx="108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666C2CE-55FB-4230-9AD1-8C72FEED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9911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DBD9BC2-7DAA-412D-83CA-BAF1947B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0673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Transformers, MLX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1111257-C6D4-4797-967D-77D4E08B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911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8BA4217-4D42-47CB-B617-7991BAB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67300"/>
            <a:ext cx="2324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55 typed labels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4F01DEA-54A2-4453-AB52-77F191F1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Engineering facts only. No cross-model accuracy ranking.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EA6645-C52D-4A59-9374-4AB25415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714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0707A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60707A"/>
                </a:solidFill>
                <a:latin typeface="DejaVu Sans"/>
                <a:ea typeface="DejaVu Sans"/>
                <a:cs typeface="DejaVu Sans"/>
              </a:rPr>
              <a:t>Unknown means the public material does not establish it.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B02B101-AB48-4BB9-8880-2C803A0E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339647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42D7DA-192B-4FF9-9C65-FFB0DE5D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3913D-FB29-4C27-B0A7-26EF6A55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81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The proxy creates a privacy boundary around the coding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4EFF21-238C-4BBE-94B0-20EF7494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60E71-6490-45F8-8A42-1486C79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76500"/>
            <a:ext cx="1733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331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CODING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402BE-7069-40CD-A4C9-487F355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Pi or OpenCode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52E41-2046-4960-80EA-FD95CEBA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38375"/>
            <a:ext cx="2476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25529-76CA-4C20-BAEE-803AAC45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2209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LOCAL PROXY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1FDC8-29F7-407A-944B-C58C4547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Detect and transform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86B7B-72AC-4088-A9CB-D18FCD36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2190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CE5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BEB97-EA63-40B2-B8BF-7DA1FA73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765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OPENROUTER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C96BDF-6AFE-4DBF-8597-0EA5E4C6A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Receives placeholders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71FD3-C0C4-46F7-A5A8-D8340C4E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38375"/>
            <a:ext cx="25717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6B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1377FE-1294-4D1F-85A1-D52DF6BC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76500"/>
            <a:ext cx="2305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CLOUD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4001D-E24A-44E0-8ADD-70EC9B6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Never receives the map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CEFD9-2D10-4AFC-ABE2-D6068555E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241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049182-8CCD-4DCF-AC38-3E9221B7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8670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484AC-83E9-48ED-B881-209983D5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241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14C1E-7A95-47BF-9F5E-92780F75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8670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94415B-C01C-478B-9734-82CB8E0D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924175"/>
            <a:ext cx="333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E422E-1342-4691-BF07-F1E2E0AC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6702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08427-1881-49FE-874C-1437AD27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38625"/>
            <a:ext cx="2476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6DE91-4639-48CF-9D18-1C756D94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rPr>
              <a:t>Ephemeral map</a:t>
            </a:r>
          </a:p>
          <a:p xmlns:a="http://schemas.openxmlformats.org/drawingml/2006/main">
            <a:pPr algn="ctr">
              <a:defRPr sz="1125" b="0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0">
                <a:solidFill>
                  <a:srgbClr val="10202B"/>
                </a:solidFill>
                <a:latin typeface="DejaVu Sans Mono"/>
                <a:ea typeface="DejaVu Sans Mono"/>
                <a:cs typeface="DejaVu Sans Mono"/>
              </a:rPr>
              <a:t>&lt;PERSON:7F2A&gt; = Anna Kovacs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39332-0BFC-4DAC-A6BA-538EB9AA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191000"/>
            <a:ext cx="285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188476-2B07-4B49-908C-FF5B92F7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52825"/>
            <a:ext cx="1428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C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66C23-14AA-4029-A01C-0A0D2FCE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0707A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60707A"/>
                </a:solidFill>
                <a:latin typeface="DejaVu Sans"/>
                <a:ea typeface="DejaVu Sans"/>
                <a:cs typeface="DejaVu Sans"/>
              </a:rPr>
              <a:t>Raw local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B38B85-CEEA-4C12-A45B-B1DEFDB9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00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Dehydrated request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BDAAF8-6F17-4104-8C71-11360C82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97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7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Only the proxy can rehydrate the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325281-BF38-48C1-B856-2D694DAA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4134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C9881F-648D-452E-9C00-439B1E23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INSIDE THE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B0693-2822-4D06-8E76-2BDF6D2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Five components turn redaction into a transparent proxy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2BB20-DEF2-4140-9CAB-78B06207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1952625" cy="314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EBBBD-204F-41AC-B889-AE8B4F4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2B870-8D8D-4C5A-8C33-58C24F998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0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Intercept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1318B-C471-402C-BD81-EE2AFC4C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52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415EE-35A9-4A0F-BAD8-D62360AC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157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Capture every model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7BB41-154B-487A-863B-C5EC387E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861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CBD0C9-E3D3-4B3A-9100-BF9C8B6C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28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70007-81C4-483C-A0DA-E2A937D8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714500"/>
            <a:ext cx="1952625" cy="314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5BBFB-CB71-4261-9F7C-5418AFB6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905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34DCEC-FB71-4452-AA38-38BE6F78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00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Detect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F605F-1716-4A6D-9E1D-C8F9E1D3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952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2B71AD-512D-4ECD-91AD-5F3DE9E2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90875"/>
            <a:ext cx="157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Rules plus a local model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6DE2E3-FD1C-42FE-BDD4-CEA23F7A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2861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0F14D-0651-419A-A889-47FAAF44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28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CB7A2-6B36-4622-A350-77C7240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1714500"/>
            <a:ext cx="1952625" cy="314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1FBC89-1916-492E-B6D5-9D05808D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1905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FA430-F53B-47C5-B68E-E38123B9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400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Dehydrate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2D766A-057B-4863-A894-988AE819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52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F1A73-59B6-4144-805A-D0D709D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90875"/>
            <a:ext cx="157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Replace spans with stable tokens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1314D-4448-4360-B3C3-6485E1F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861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FB8F96-5C04-4A56-9336-57377A95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28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0D4FE-2C7D-4378-8B64-894C5D55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14500"/>
            <a:ext cx="1952625" cy="314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C395D-AF96-4AEC-8DEA-425D6F87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05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71B148-23BB-41C8-99D0-1DE59D7CC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400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Remember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C4B0F-0606-4D51-92EA-339CC0044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952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591DE7-1512-404C-9BFF-072F63FC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190875"/>
            <a:ext cx="157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Store the map with a short TTL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0E9ACB-7743-4693-8CBB-2429CDE9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286125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49DCA-AA6C-40CC-A023-FB673CCC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28975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3443AC-97B5-4719-AFF4-3AFBBD4C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714500"/>
            <a:ext cx="1952625" cy="31432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2C8861-BBFA-4FBB-96BD-4556B1F2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9050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125" b="1">
                <a:solidFill>
                  <a:srgbClr val="4E7CFF"/>
                </a:solidFill>
                <a:latin typeface="DejaVu Sans Mono"/>
                <a:ea typeface="DejaVu Sans Mono"/>
                <a:cs typeface="DejaVu Sans Mono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365EE5-40C4-4AD5-AF37-63E918BB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4003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Rehydrate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942C-BE92-4BF7-AFF4-F565BBCF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952750"/>
            <a:ext cx="1571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7C2609-8633-475C-ACCB-ED396EB2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190875"/>
            <a:ext cx="1571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Restore exact known tokens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572DD7-C826-4B21-A865-A8AA1CA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53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B610AE-550F-416E-BADF-38D3E6C9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Invariant: raw values and the substitution map never cross the local trust boundary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9D2535-4FBF-4F43-BCD6-4C25EC7E1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1048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24D045-5B4A-4A2F-93FD-33DDF447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OBSERVABILITY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B5DF5-7853-4B76-A531-EC9E7FD8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98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Two traces answer the honest question: what does OpenRouter see?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6D3E1-9C2C-4EBE-8AB6-B05FC965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241A6-B360-4D2E-8104-F58DC75A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F23D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B8F23D"/>
                </a:solidFill>
                <a:latin typeface="DejaVu Sans"/>
                <a:ea typeface="DejaVu Sans"/>
                <a:cs typeface="DejaVu Sans"/>
              </a:rPr>
              <a:t>LOCAL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1EE4E-B854-44D2-AFAA-0F202810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33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rPr>
              <a:t>proxy.receive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D8370-ADD5-4025-AA7B-E5531EA0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Anna Kovacs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anna@example.hu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68D42-2419-46CD-ACE1-B173DFE4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rPr>
              <a:t>proxy.detect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279CF0-3F2C-436C-B78A-D910847C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6712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PERSON  EMAIL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F67D5D-E2F3-48D3-AEA0-549F6588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DCE5FF"/>
                </a:solidFill>
                <a:latin typeface="DejaVu Sans Mono"/>
                <a:ea typeface="DejaVu Sans Mono"/>
                <a:cs typeface="DejaVu Sans Mono"/>
              </a:rPr>
              <a:t>proxy.map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FA09D-9AEC-4FC1-AF5F-C73B515D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7F2A = Anna Kovacs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5E42B-64C6-42FB-B336-D63B56D5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509587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BBDA1-2176-4F21-9C4A-3D3AD2DF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OPENROUTER 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E2F927-727C-4083-811D-5C11A914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336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request.input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2E9B4-2B47-4A34-A225-E746219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19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&lt;PERSON:7F2A&gt;</a:t>
            </a:r>
          </a:p>
          <a:p xmlns:a="http://schemas.openxmlformats.org/drawingml/2006/main">
            <a:pPr algn="l">
              <a:def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&lt;EMAIL:9B11&gt;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1BF23-683B-4FCC-9353-59BE3BAF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81375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provider.output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55640-7C10-4595-B41E-EDABEE44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671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Tell &lt;PERSON:7F2A&gt;...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A5AA7-6E8C-4022-BE71-C6C10477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38625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>
                <a:solidFill>
                  <a:srgbClr val="FF6B57"/>
                </a:solidFill>
                <a:latin typeface="DejaVu Sans Mono"/>
                <a:ea typeface="DejaVu Sans Mono"/>
                <a:cs typeface="DejaVu Sans Mono"/>
              </a:rPr>
              <a:t>Never present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63659-7F06-4F5C-AEB7-C403E155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24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Original values or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2C715C-CEF5-4C15-B913-4896219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8375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08CD9C-66BE-469F-B635-EC043740B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LIVE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296F3-B9BC-4641-9D63-0902E3D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The demo uses one request and four visible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AC9BF-9641-4E92-9097-E9E699B7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C2A34-AC42-4C97-833C-AE2FAFB4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28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1  Pi sends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D75AB-7E11-401F-8CA3-C65BED0F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Raw task plus</a:t>
            </a:r>
          </a:p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repository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C0FC00-D9FC-40C7-B21A-4E58C2B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575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A3DEF-0C0B-4D5F-9D9D-52DE7AB0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003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DF42-4D85-4B5E-8739-EA7BF94B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11651-0DC1-45A1-879F-7C886FAF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28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2  Proxy receives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4F9618-901B-4218-91E6-7FE550F2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6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Raw request then</a:t>
            </a:r>
          </a:p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local detections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BDDA0E-6981-4DAD-9A92-251EB505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8575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F4513-39A4-4F54-97D2-531305C0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8D319-2362-47FC-833F-978A1253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19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141AB-25CA-4AC5-A5BB-E7F3A369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28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3  OpenRouter sees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165A73-88FB-4D1C-9700-D5D97334F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73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Only dehydrated</a:t>
            </a:r>
          </a:p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text and tokens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B492A-DD67-4D32-9F0B-FD5C59268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57500"/>
            <a:ext cx="142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609E8B-C9A2-4FCF-940F-9D31D618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800350"/>
            <a:ext cx="11430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07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A6D34-27DE-4EBD-93E4-18AA1CF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476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77D0D6-A3CD-4F08-858D-9525FE0E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28800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4  Pi receives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477B7-DD57-4FC5-91A6-5E1907FA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76500"/>
            <a:ext cx="209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Rehydrated model</a:t>
            </a:r>
          </a:p>
          <a:p xmlns:a="http://schemas.openxmlformats.org/drawingml/2006/main">
            <a:pPr algn="ctr">
              <a:def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response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3E523B-0225-4055-9425-F77F4CD5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72000"/>
            <a:ext cx="5286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02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6C3234-7B60-487F-8C38-738B415F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Langfuse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5B1E4F-31D0-4510-BB1B-09A0F5B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6255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5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DCE5FF"/>
                </a:solidFill>
                <a:latin typeface="DejaVu Sans"/>
                <a:ea typeface="DejaVu Sans"/>
                <a:cs typeface="DejaVu Sans"/>
              </a:rPr>
              <a:t>One trace with nested local spans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BAA51-96AA-42AB-813F-237859EB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528637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CE5F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E07620-12E5-4CED-A9E8-4C9811A4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62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OpenRouter Broadcast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E84568-9E2C-4C1C-879F-8CDB8F56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62550"/>
            <a:ext cx="452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Independent evidence of the remote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3C74C-0FBD-45C7-BF6E-6593B045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78675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A6DA4D-47C2-4FD8-8E8E-48488EA3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EVALUATION WITHOUT A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3E477-CA74-4A5C-9A65-0F47C8A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A useful comparison does not require an accuracy ranking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EFEB2-E0F8-41CC-826A-9C1B60F3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Coverage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22768-FFDD-43C2-BF1C-BDBDFDFE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335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FA249-69EA-4424-A6B1-D9F06EBB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4763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PII categories and supported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FF2D1-269F-482E-8675-815D911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431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Packaging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BF996-E188-4F3B-9AA2-539243AD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0032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5C8EF-A309-40E0-935B-CB9F485F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431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Parameters, artifact size and quantization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BD5DD-238D-4421-B35D-9DE7EC8D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99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815187-BC83-49CA-A58E-2E4EED63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6710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6BF6DE-77E1-45A8-A8E8-02FC31EE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099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CPU, browser, native SDK and memory requirements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230A1-2EA5-440E-A5FE-D28FF0B4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3E02A9-3EA0-4123-9CFF-971AE8931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33875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D4A8EE-663E-4ABA-A65A-33908B77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767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Typed spans, deletion, stable tokens and rehydration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334CA-1761-4111-83C4-D124D820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4347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4E7CFF"/>
                </a:solidFill>
                <a:latin typeface="DejaVu Sans"/>
                <a:ea typeface="DejaVu Sans"/>
                <a:cs typeface="DejaVu Sans"/>
              </a:rPr>
              <a:t>Governance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3D3AA-69A0-42C9-A1DA-2A1BCD0F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006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2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8BB28B-0532-41B4-B84F-DEC99375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9434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202B"/>
                </a:solidFill>
                <a:latin typeface="DejaVu Sans"/>
                <a:ea typeface="DejaVu Sans"/>
                <a:cs typeface="DejaVu Sans"/>
              </a:rPr>
              <a:t>License, telemetry and custom-code requirements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8FB98-D497-4D3C-B28F-4329161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57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8019C3-59E6-4132-837C-949640F0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912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Run a domain-specific evaluation later. Do not infer safety from a vendor test set.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F4AD4-73D1-4495-8F9F-0A02E148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87795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3CEFF-69B8-4AE6-8DA8-323B305C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Small local models make a</a:t>
            </a:r>
          </a:p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5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privacy proxy practical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2EBC06-53F8-402F-96F0-2CDB371B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619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14C3C-D841-4114-8868-4D0A6632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7810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rPr>
              <a:t>Rules catch structure.</a:t>
            </a:r>
          </a:p>
          <a:p xmlns:a="http://schemas.openxmlformats.org/drawingml/2006/main">
            <a:pPr algn="l">
              <a:def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rPr>
              <a:t>A local model interprets context.</a:t>
            </a:r>
          </a:p>
          <a:p xmlns:a="http://schemas.openxmlformats.org/drawingml/2006/main">
            <a:pPr algn="l">
              <a:def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DCE5FF"/>
                </a:solidFill>
                <a:latin typeface="DejaVu Sans"/>
                <a:ea typeface="DejaVu Sans"/>
                <a:cs typeface="DejaVu Sans"/>
              </a:rPr>
              <a:t>The proxy controls what leaves the machine.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E6910-2822-48D9-BBED-EE82F0FD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2095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B8F23D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97042-FFEB-4DC6-A122-A3EE4B34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433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1">
                <a:solidFill>
                  <a:srgbClr val="071116"/>
                </a:solidFill>
                <a:latin typeface="DejaVu Sans Mono"/>
                <a:ea typeface="DejaVu Sans Mono"/>
                <a:cs typeface="DejaVu Sans Mono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F5233-8203-41C9-925F-E18989D8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92430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28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detect</a:t>
            </a:r>
          </a:p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replace</a:t>
            </a:r>
          </a:p>
          <a:p xmlns:a="http://schemas.openxmlformats.org/drawingml/2006/main">
            <a:pPr algn="ctr">
              <a:def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71116"/>
                </a:solidFill>
                <a:latin typeface="DejaVu Sans"/>
                <a:ea typeface="DejaVu Sans"/>
                <a:cs typeface="DejaVu Sans"/>
              </a:rPr>
              <a:t>restore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9F9F2-C35C-420D-8169-3DAE013E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F2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B8F23D"/>
                </a:solidFill>
                <a:latin typeface="DejaVu Sans"/>
                <a:ea typeface="DejaVu Sans"/>
                <a:cs typeface="DejaVu Sans"/>
              </a:rPr>
              <a:t>Next: test Desert Ant, LFM2.5 and Rampart on coding-agent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EA3BC-2975-4EC8-803B-52C1D8EE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38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25" b="0">
                <a:solidFill>
                  <a:srgbClr val="60707A"/>
                </a:solidFill>
                <a:latin typeface="DejaVu Sans Mono"/>
                <a:ea typeface="DejaVu Sans Mono"/>
                <a:cs typeface="DejaVu San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03883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2026-09-23T19:17:51.1290000Z</dcterms:created>
  <dcterms:modified xsi:type="dcterms:W3CDTF">2026-09-23T19:17:51.1290000Z</dcterms:modified>
</coreProperties>
</file>